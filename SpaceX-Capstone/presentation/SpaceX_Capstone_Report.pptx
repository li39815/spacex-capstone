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Landings by Launch Site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Successful Landings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CCAFS SLC-40</c:v>
                </c:pt>
                <c:pt idx="1">
                  <c:v>KSC LC-39A</c:v>
                </c:pt>
                <c:pt idx="2">
                  <c:v>VAFB SLC-4E</c:v>
                </c:pt>
                <c:pt idx="3">
                  <c:v>CCAFS LC-40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17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44-4286-ADEF-399948DA61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 Landings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CCAFS SLC-40</c:v>
                </c:pt>
                <c:pt idx="1">
                  <c:v>KSC LC-39A</c:v>
                </c:pt>
                <c:pt idx="2">
                  <c:v>VAFB SLC-4E</c:v>
                </c:pt>
                <c:pt idx="3">
                  <c:v>CCAFS LC-40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5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44-4286-ADEF-399948DA6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Yearly Success Rate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ln w="31750" cap="flat">
              <a:solidFill>
                <a:srgbClr val="00BC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27</c:v>
                </c:pt>
                <c:pt idx="5">
                  <c:v>55</c:v>
                </c:pt>
                <c:pt idx="6">
                  <c:v>78</c:v>
                </c:pt>
                <c:pt idx="7">
                  <c:v>77</c:v>
                </c:pt>
                <c:pt idx="8">
                  <c:v>86</c:v>
                </c:pt>
                <c:pt idx="9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03F-4DE3-A2C9-21457DDCE1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Success by Site (Pie Chart)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Launch 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C4D-43E3-98A5-89A102FD8510}"/>
              </c:ext>
            </c:extLst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4D-43E3-98A5-89A102FD8510}"/>
              </c:ext>
            </c:extLst>
          </c:dPt>
          <c:dPt>
            <c:idx val="2"/>
            <c:bubble3D val="0"/>
            <c:spPr>
              <a:solidFill>
                <a:srgbClr val="00C8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4D-43E3-98A5-89A102FD8510}"/>
              </c:ext>
            </c:extLst>
          </c:dPt>
          <c:dPt>
            <c:idx val="3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4D-43E3-98A5-89A102FD851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4D-43E3-98A5-89A102FD851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4D-43E3-98A5-89A102FD851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C4D-43E3-98A5-89A102FD851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C4D-43E3-98A5-89A102FD85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KSC LC-39A
Success</c:v>
                </c:pt>
                <c:pt idx="1">
                  <c:v>CCAFS SLC-40
Success</c:v>
                </c:pt>
                <c:pt idx="2">
                  <c:v>VAFB SLC-4E
Success</c:v>
                </c:pt>
                <c:pt idx="3">
                  <c:v>All Failures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19</c:v>
                </c:pt>
                <c:pt idx="2">
                  <c:v>8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C4D-43E3-98A5-89A102FD85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Decision
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84.7</c:v>
                </c:pt>
                <c:pt idx="1">
                  <c:v>84.7</c:v>
                </c:pt>
                <c:pt idx="2">
                  <c:v>87.5</c:v>
                </c:pt>
                <c:pt idx="3">
                  <c:v>84.7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3-4023-87E7-D72CA37838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Decision
Tree</c:v>
                </c:pt>
                <c:pt idx="3">
                  <c:v>KNN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88.9</c:v>
                </c:pt>
                <c:pt idx="3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93-4023-87E7-D72CA37838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06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937" y="1440017"/>
            <a:ext cx="36576" cy="36576"/>
          </a:xfrm>
          <a:prstGeom prst="ellipse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07924" y="3408597"/>
            <a:ext cx="36576" cy="36576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5598" y="2780625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80537" y="535023"/>
            <a:ext cx="36576" cy="36576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94040" y="5072370"/>
            <a:ext cx="36576" cy="3657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7550" y="1044172"/>
            <a:ext cx="36576" cy="36576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87876" y="1952362"/>
            <a:ext cx="36576" cy="36576"/>
          </a:xfrm>
          <a:prstGeom prst="ellipse">
            <a:avLst/>
          </a:prstGeom>
          <a:solidFill>
            <a:srgbClr val="FFFFFF">
              <a:alpha val="8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5506" y="653211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988" y="2766268"/>
            <a:ext cx="36576" cy="36576"/>
          </a:xfrm>
          <a:prstGeom prst="ellipse">
            <a:avLst/>
          </a:prstGeom>
          <a:solidFill>
            <a:srgbClr val="FFFFFF">
              <a:alpha val="8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69516" y="490540"/>
            <a:ext cx="36576" cy="36576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21116" y="1463818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753" y="1852573"/>
            <a:ext cx="36576" cy="36576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8728" y="2480265"/>
            <a:ext cx="36576" cy="3657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9632" y="753751"/>
            <a:ext cx="36576" cy="36576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1456" y="3141750"/>
            <a:ext cx="36576" cy="36576"/>
          </a:xfrm>
          <a:prstGeom prst="ellipse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4132" y="4796694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0590" y="2752398"/>
            <a:ext cx="36576" cy="3657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7588" y="3506576"/>
            <a:ext cx="36576" cy="36576"/>
          </a:xfrm>
          <a:prstGeom prst="ellipse">
            <a:avLst/>
          </a:prstGeom>
          <a:solidFill>
            <a:srgbClr val="FFFFFF">
              <a:alpha val="7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602" y="3084995"/>
            <a:ext cx="36576" cy="36576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9198" y="2186149"/>
            <a:ext cx="36576" cy="36576"/>
          </a:xfrm>
          <a:prstGeom prst="ellipse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2864" y="434246"/>
            <a:ext cx="36576" cy="36576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0922" y="4919300"/>
            <a:ext cx="36576" cy="3657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7727" y="4373582"/>
            <a:ext cx="36576" cy="36576"/>
          </a:xfrm>
          <a:prstGeom prst="ellipse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064" y="2812929"/>
            <a:ext cx="36576" cy="36576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94336" y="4713217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14295" y="4996905"/>
            <a:ext cx="36576" cy="3657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8549" y="1153395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2052" y="1859117"/>
            <a:ext cx="36576" cy="3657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66562" y="1148438"/>
            <a:ext cx="36576" cy="36576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84155" y="2008331"/>
            <a:ext cx="36576" cy="36576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46468" y="1187913"/>
            <a:ext cx="36576" cy="36576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3216" y="487620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9921" y="1692094"/>
            <a:ext cx="36576" cy="36576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0320" y="2756190"/>
            <a:ext cx="36576" cy="36576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6317" y="1600557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81692" y="948705"/>
            <a:ext cx="36576" cy="36576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49139" y="2423528"/>
            <a:ext cx="36576" cy="36576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6088" y="3182705"/>
            <a:ext cx="36576" cy="3657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54434" y="3643276"/>
            <a:ext cx="36576" cy="36576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3368" y="756479"/>
            <a:ext cx="36576" cy="36576"/>
          </a:xfrm>
          <a:prstGeom prst="ellipse">
            <a:avLst/>
          </a:prstGeom>
          <a:solidFill>
            <a:srgbClr val="FFFFFF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45" name="Text 43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57200" y="3337560"/>
            <a:ext cx="804672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 |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EDA · Interactive Visualization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CD4"/>
                </a:solidFill>
              </a:rPr>
              <a:t>https://github.com/LI39815/SpaceX-Capstone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206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🎯  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Falcon 9 first-stage landing success to estimate launch cost (~$62M vs $165M)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206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🔧  Methods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· Web Scraping · EDA · SQL · Folium · Plotly Dash · ML (LR, SVM, DT, KNN)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206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📊  Key Results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achieved highest accuracy on test set; 80+ launches analysed across 4 sites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206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💡  Insight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34747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improved significantly post-2015; KSC LC-39A shows highest success proximity to coast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44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SpaceX advertises Falcon 9 launches at $62M vs competitors at $165M+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Key to low cost: reusable first-stage booster recovery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Predicting landing success enables accurate cost estimation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496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Valuable for rival companies bidding against SpaceX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44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Can we predict if Falcon 9's first stage will land successfully?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Which factors (payload, orbit, launch site) most influence success?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912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Which ML model performs best for this binary classification task?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8496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How has landing success rate changed over time?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7390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SpaceX REST API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7373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721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SpaceX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39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</a:rPr>
              <a:t>api.spacexdata.com/v4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920240"/>
            <a:ext cx="22860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417320"/>
            <a:ext cx="17373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4721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GET /launches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/past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039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</a:rPr>
              <a:t>HTTP requests via requests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920240"/>
            <a:ext cx="22860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17320"/>
            <a:ext cx="17373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4721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 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2039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</a:rPr>
              <a:t>Extract fields of interest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2860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17320"/>
            <a:ext cx="17373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14721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039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CD4"/>
                </a:solidFill>
              </a:rPr>
              <a:t>Pandas DataFrame → CSV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84124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7249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Key Data Fields Extracted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090672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FlightNumber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090672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LaunchDate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090672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BoosterVersion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3090672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PayloadMass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529584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529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Orbit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3529584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529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LaunchSite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529584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529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Outcome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3529584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529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Flights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968496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968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GridFins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51760" y="3968496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3968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Reused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968496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968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Legs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3968496"/>
            <a:ext cx="19202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39684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LandingPad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 (Wikipedia)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188720"/>
            <a:ext cx="502920" cy="4114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1920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Target URL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Wikipedia Falcon 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launch history page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194560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502920" cy="4114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1645920"/>
            <a:ext cx="1920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requests.get()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12140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Fetch raw HTML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content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2194560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188720"/>
            <a:ext cx="502920" cy="4114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1645920"/>
            <a:ext cx="1920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BeautifulSoup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Parse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12140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Extract HTML tables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with find_all()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194560"/>
            <a:ext cx="18288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188720"/>
            <a:ext cx="502920" cy="4114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188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27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1645920"/>
            <a:ext cx="19202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Pandas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DataFrame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212140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Structure &amp; export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to CSV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606040"/>
            <a:ext cx="84124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7249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Scraping Process &amp; Libraries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108960"/>
            <a:ext cx="1463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08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27"/>
                </a:solidFill>
              </a:rPr>
              <a:t>requests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31089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HTTP GET to fetch Wikipedia page HTML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493008"/>
            <a:ext cx="1463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93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27"/>
                </a:solidFill>
              </a:rPr>
              <a:t>BeautifulSoup4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349300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Parse HTML and locate launch record tables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877056"/>
            <a:ext cx="1463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770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27"/>
                </a:solidFill>
              </a:rPr>
              <a:t>pandas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877056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Convert HTML tables to structured DataFrames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261104"/>
            <a:ext cx="1463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611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27"/>
                </a:solidFill>
              </a:rPr>
              <a:t>re / string ops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03120" y="426110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Clean column names, remove footnotes, fix data types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5760" y="470026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DATA WRANGLING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89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🧹  Handle Missing Values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Imputed PayloadMass with column mean; dropped rows with &gt;50% null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89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🏷️  Create Class Label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Mapped Outcome → binary Class (1=success, 0=failure) using to_numpy()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968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⚙️  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Encoded categorical columns (Orbit, LaunchSite) with One-Hot Encoding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50545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5968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📏  Standardization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6265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Applied StandardScaler to normalize all numeric features (μ=0, σ=1)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8039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✂️  Train/Test Split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80% training, 20% test; random_state=2 for reproducibility (90 total records)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71246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8039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✅  Data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16966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Verified dtypes, value counts, and shape before model training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86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 —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081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📊 Bar Chart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Compare success counts across Launch Sites (CCAFS, KSC, VAFB)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081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📈 Line Chart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7393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Yearly launch success rate trend (2010–2020)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968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🔵 Scatter Plot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Payload Mass vs. Class — show mass influence on outcome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48716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5968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🥧 Pie Chart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626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Mission outcome distribution by orbit type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7856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🗺️ Folium 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1513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Interactive geographic analysis of launch sites &amp; proximity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67588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7856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📉 Catplot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1513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Flight number vs. success rate by booster version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2481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EDA · SQL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Queries &amp;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Launch Sites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00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launch_site FROM SPACEXTBL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066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→ 4 unique sites identified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98448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Payload Range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700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MIN(PAYLOAD_MASS__KG_), MAX(...) FROM ...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83480" y="2066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→ 0 – 15,600 kg range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05456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968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Booster Success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booster_version, outcome FROM ... WHERE landing_outcome LIKE 'Success%'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3273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→ F9 B5 highest success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505456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505456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5968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Success by Site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launch_site, COUNT(*) ... WHERE class=1 GROUP BY launch_site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83480" y="3273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→ KSC LC-39A best performer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1246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12464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039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Yearly Trend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YEAR(date), AVG(class) FROM ... GROUP BY YEAR(date)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→ Success rate rose post-2016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712464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12464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8039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Ranking Sites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launch_site, SUM(class) ... ORDER BY SUM(class) DESC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8348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→ CCAFS SLC-40 most launches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2913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INTERACTIVE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🗺️  Folium 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Launch site markers with color-coded success/fail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Cluster markers to group nearby launch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08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Proximity lines to nearest coast, highway, city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753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Popup labels with mission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CD4"/>
                </a:solidFill>
              </a:rPr>
              <a:t>GitHub: https://github.com/your-username/SpaceX-Capstone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98448"/>
            <a:ext cx="411480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98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</a:rPr>
              <a:t>📊  Plotly Dash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Dropdown: select individual or all launch sites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414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Pie chart: success rate per selected site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08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Range slider: filter by payload mass (kg)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5753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Scatter plot: payload vs. launch outcome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CD4"/>
                </a:solidFill>
              </a:rPr>
              <a:t>GitHub: https://github.com/your-username/SpaceX-Capstone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EDA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9844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129844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61188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📊 Scatter: Payload vs Outcome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Heavy payloads (&gt;8,000 kg) tend to have lower success rates. ISS orbit missions show consistently high success.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361188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46320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📊 Bar: Success by Orbit Type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LEO and ISS orbits show highest success. GTO missions have more variability due to heavier payloads and longer burn requirements.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65760" y="485368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SQL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Key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89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</a:rPr>
              <a:t>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Launch Sites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98448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389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</a:rPr>
              <a:t>90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89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</a:rPr>
              <a:t>15,600 kg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Max Payload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298448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389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</a:rPr>
              <a:t>~60%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Overall Success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8412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514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SQL Query Summary Results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822960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Query Topic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Finding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Launch Sites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CCAFS SLC-40 has most total launches (33)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Busiest operational site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Success Rankings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KSC LC-39A: 77% success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Most reliable site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Payload Analysis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Payloads 2,000-5,500 kg have best outcomes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Optimal payload range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Yearly Trends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2019-2020: near 100% success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Rapid improvement post-2016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Booster Versions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Falcon 9 B5 block shows highest reliability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Latest design is best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804591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FOLIUM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— Launch Site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5303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5303520" cy="3200400"/>
          </a:xfrm>
          <a:prstGeom prst="rect">
            <a:avLst/>
          </a:prstGeom>
          <a:solidFill>
            <a:srgbClr val="E8F4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9152" y="2926080"/>
            <a:ext cx="182880" cy="1828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29077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CCAFS SLC-40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33472" y="3383280"/>
            <a:ext cx="182880" cy="1828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33649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KSC LC-39A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70432" y="3200400"/>
            <a:ext cx="182880" cy="18288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31821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VAFB SLC-4E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67712" y="3749040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37307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CCAFS LC-40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</a:rPr>
              <a:t>🗺️ Interactive Folium 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</a:rPr>
              <a:t>(Approximate representation)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298448"/>
            <a:ext cx="2971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371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📍  Site Markers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6276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4 active launch sites marked; green = success, red = failure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2103120"/>
            <a:ext cx="2971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2176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🔵  Cluster 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4323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MarkerCluster groups dense records for clean visualization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2907792"/>
            <a:ext cx="2971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29809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📏  Proximity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32369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KSC LC-39A: 1.4 km to coast, near highway — ideal logistics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06440" y="3712464"/>
            <a:ext cx="2971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3785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🌊  Geographic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40416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All sites near coastline for safety and eastward launch trajectory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PLOTLY DASH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— Interactive Dashboard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98448"/>
          <a:ext cx="4023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298448"/>
            <a:ext cx="4206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0" y="1298448"/>
            <a:ext cx="420624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1298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Scatter: Payload vs Outcome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17830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Payloads 0–4,000 kg: mostly successful across all sites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09160" y="22219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Payloads &gt;8,000 kg: predominantly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09160" y="266090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VAFB SLC-4E: no heavy payload successes recorded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09160" y="30998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KSC LC-39A handles widest range of payload masses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09160" y="35387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Optimal zone: 2,000–5,500 kg for highest success probability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977640"/>
            <a:ext cx="84124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4096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Dashboard Features: 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06040" y="411480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88920" y="40965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Dropdown (site selector)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97680" y="411480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40965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Pie chart (success %)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89320" y="411480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0965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Payload slider (0–10,000 kg)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680960" y="411480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40965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Scatter plot (payload vs class)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65760" y="485262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</a:rPr>
              <a:t>PREDICTIVE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Model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98448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298448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371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Logistic Reg.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6276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CV: 84.7%  |  Test: 83.3%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0" y="18105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C=0.01, l2, lbfgs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77840" y="2194560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2267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SVM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25237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CV: 84.7%  |  Test: 83.3%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0" y="27066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kernel=rbf, C=1.0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77840" y="3090672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090672"/>
            <a:ext cx="3200400" cy="804672"/>
          </a:xfrm>
          <a:prstGeom prst="rect">
            <a:avLst/>
          </a:prstGeom>
          <a:solidFill>
            <a:srgbClr val="E8F5E9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</a:rPr>
              <a:t>Decision Tree ★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4198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CV: 87.5%  |  Test: 88.9%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15000" y="36027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gini, max_depth=6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577840" y="3986784"/>
            <a:ext cx="3200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15000" y="4059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KNN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15000" y="43159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CV: 84.7%  |  Test: 83.3%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715000" y="44988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k=10, manhattan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321040" cy="777240"/>
          </a:xfrm>
          <a:prstGeom prst="rect">
            <a:avLst/>
          </a:prstGeom>
          <a:solidFill>
            <a:srgbClr val="0D2137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</a:rPr>
              <a:t>🏆  Best Model: Decision Tree — 88.9% Test Accuracy  |  Best Params: criterion=gini, max_depth=6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Success rate grew from 0% (2010) to nearly 100% (2020) — rapid engineering improvement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KSC LC-39A is the most successful site (77%); all sites chosen for coastal proximity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Payload mass is a key predictor — optimal range 2,000–5,500 kg maximizes success probability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All 4 ML models achieve 83–89% accuracy; GridSearchCV + 10-fold CV ensures reliable evaluation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Accurate predictions can save ~$103M per launch — significant competitive intelligence value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434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Creative insight: Booster reuse count (ReusedCount) is a strong success predictor — more reuses = higher confidence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</a:rPr>
              <a:t>https://github.com/LI39815/SpaceX-Capstone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1473</Words>
  <Application>Microsoft Office PowerPoint</Application>
  <PresentationFormat>全屏显示(16:9)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Landing Prediction - Data Science Capstone</dc:title>
  <dc:subject>PptxGenJS Presentation</dc:subject>
  <dc:creator>PptxGenJS</dc:creator>
  <cp:lastModifiedBy>gw li</cp:lastModifiedBy>
  <cp:revision>2</cp:revision>
  <dcterms:created xsi:type="dcterms:W3CDTF">2026-06-05T04:53:44Z</dcterms:created>
  <dcterms:modified xsi:type="dcterms:W3CDTF">2026-06-06T05:49:36Z</dcterms:modified>
</cp:coreProperties>
</file>